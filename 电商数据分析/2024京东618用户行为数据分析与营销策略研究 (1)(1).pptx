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48" y="10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汇报的主题是“2024京东618用户行为数据分析与营销策略研究”。本次研究基于京东官方公开的模拟数据集，旨在通过对用户在618期间的行为数据进行深度挖掘，洞察用户需求，并为平台和商家提供可落地的增长策略建议。我们的分析周期为2024年6月1日至6月18日。接下来，我们将从研究背景、数据方法、分析洞察和策略建议四个方面展开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为什么要聚焦618大促。2024年，电商行业已进入存量竞争时代，618作为上半年最重要的大促，其战略地位不言而喻。平台竞争已从价格战升级为价值战，数据驱动决策成为关键。同时，商家也迫切需要通过数据分析来解决精准营销的痛点。因此，我们的研究聚焦于三大核心问题：哪些商品贡献最大？哪些城市价值最高？以及哪些用户需要重点运营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我们的数据来源和处理流程。本次分析基于京东提供的超过76万条用户行为记录。我们通过基础清洗、异常检测、商品分类和RFM用户画像构建四个步骤，对原始数据进行了处理。最终，我们得到了一个包含约1万名用户、1.3万个订单、覆盖14个商品类别和12个主要城市的高质量分析数据集，为后续的深入分析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深入分析商品维度。从销量TOP10品类的柱状图可以看出，数码、美妆和家居是618的“顶梁柱”。其中，数码产品占据前两位，美妆和家居紧随其后。这三个品类的销量合计占总销量的60%，集中度非常高。这表明平台的营销资源应重点向这些核心品类倾斜，以最大化GMV贡献。同时，我们也观察到智能家居等新兴品类的增长趋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进一步探究商品结构，我们进行了帕累托分析。左侧的环形图直观展示了各品类的销量占比，而右侧的帕累托图则清晰地揭示了二八定律：前20%的品类贡献了超过80%的销量。这一发现告诉我们，平台应采取差异化的品类策略：对头部品类，要集中资源打造爆款；对长尾品类，则要通过个性化推荐等方式，满足用户的细分需求，从而提升整体平台的丰富度和用户粘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转向城市维度的分析。从各城市用户访问量排名的柱状图可以看出，南宁成为了本次618的“流量之王”，其访问量位居榜首。这背后可能有物流、营销等多方面的原因。同时，北京、上海等一线城市依然是流量的基石，而成都、杭州等新一线城市则展现出巨大的增长潜力。这为我们进行区域化运营和资源倾斜提供了明确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进一步分析了各城市的消费结构。这张热力图展示了不同城市在各品类上的消费偏好。一个非常有趣的发现是，尽管城市不同，但数码、美妆和家居这三个核心品类在全国范围内都受到青睐，颜色普遍较深。这说明这些品类的需求具有普适性。当然，我们也能看到一些地域特色，比如北方城市可能更偏好家电，南方城市更偏好服饰。这些共性与差异，为我们制定全国统一策略和本地化运营提供了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对用户进行价值分层分析。从这张图表可以清晰地看到，不同用户群体的消费能力存在巨大差异。高价值核心客户的平均消费金额高达386.8元，远超其他用户群体。这表明，高价值客户是平台的核心价值所在，我们的运营策略应该重点关注如何维护好这部分客户，并努力将潜力客户转化为高价值客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一下用户的职业画像。左边的图表显示，大学生、上班族和自由职业者是我们平台的主要用户群体。右边的图表则进一步揭示了不同价值分层用户的职业差异：高价值客户中上班族和创业者更多，而新客户则以大学生为主。这些洞察对于我们制定差异化的用户运营策略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研究进行总结与展望。我们发现，商品层面，头部品类驱动销量，长尾品类丰富生态；城市层面，流量集中但结构统一，区域化运营潜力巨大；用户层面，提升加购转化和唤醒沉睡用户是增长的关键。当然，本研究也存在一定的局限性，未来我们希望能进行跨平台对比分析、用户生命周期价值分析，并通过A/B测试来验证我们的策略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2667000"/>
            <a:ext cx="1092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618预热期电商平台数据分析报告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4191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基于商品、城市、用户多维度的洞察与策略建议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数据来源：京东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618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 | 周期：5.29-6.4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219" r="219"/>
          <a:stretch>
            <a:fillRect/>
          </a:stretch>
        </p:blipFill>
        <p:spPr>
          <a:xfrm>
            <a:off x="10731500" y="6032500"/>
            <a:ext cx="10795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研究背景与分析目标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析聚焦于2024年618大促预热期（5月29日至6月4日），旨在通过对平台用户行为数据的深度挖掘，全面评估预热期的运营效果，识别核心业务驱动因素与潜在问题，为后续大促爆发期及日常运营提供数据驱动的决策支持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69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核心分析目标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207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评估商品表现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洞察地域差异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分层用户价值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优化转化路径</a:t>
            </a: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5.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制定落地策略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数据介绍与处理流程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49400"/>
            <a:ext cx="1028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本次分析的数据来源于用户在平台的行为日志，涵盖了浏览、加购、下单等关键动作。数据经过严格的预处理，以确保分析结果的准确性和可靠性。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2231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84500"/>
            <a:ext cx="330200" cy="330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71600" y="2984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基础清洗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492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删除重复日志，剔除异常记录，过滤非法行为，限定活动时间窗口。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279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2231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2984500"/>
            <a:ext cx="330200" cy="330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76700" y="2984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深度异常处理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3492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按组合键再次去重，采用IQR法校验价格和数量，标记疑似爬虫用户。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279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2231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2984500"/>
            <a:ext cx="330200" cy="330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81800" y="2984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品类聚合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62700" y="3492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将1021个细分商品归为14个一级大类，分类覆盖率达97.8%。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77300" y="279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2231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7800" y="2984500"/>
            <a:ext cx="330200" cy="330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486900" y="2984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RFM数据处理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67800" y="3492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对消费金额进行IQR截断，以中位数为界限将用户分为4类。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0165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E2231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520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755,536</a:t>
            </a:r>
            <a:r>
              <a:rPr lang="en-US" sz="14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" y="5778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清洗后有效行为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467100" y="50165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E2231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594100" y="520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10,736</a:t>
            </a:r>
            <a:r>
              <a:rPr lang="en-US" sz="14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594100" y="5778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独立活跃用户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72200" y="50165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E2231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299200" y="520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13,346</a:t>
            </a:r>
            <a:r>
              <a:rPr lang="en-US" sz="14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单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99200" y="5778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总下单订单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877300" y="50165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E2231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9004300" y="520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3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12座城市</a:t>
            </a:r>
            <a:endParaRPr lang="en-US" sz="1100"/>
          </a:p>
          <a:p>
            <a:pPr marL="0" indent="0" algn="l">
              <a:lnSpc>
                <a:spcPct val="91666"/>
              </a:lnSpc>
            </a:pPr>
            <a:r>
              <a:rPr lang="en-US" sz="13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14个一级商品大类</a:t>
            </a:r>
          </a:p>
        </p:txBody>
      </p:sp>
      <p:sp>
        <p:nvSpPr>
          <p:cNvPr id="33" name="AutoShape 33"/>
          <p:cNvSpPr/>
          <p:nvPr/>
        </p:nvSpPr>
        <p:spPr>
          <a:xfrm>
            <a:off x="9004300" y="5778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覆盖范围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商品销量分析：核心品类贡献突出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0" y="1651000"/>
            <a:ext cx="482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核心引流爆款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数码配件是平台的核心引流和销售爆款，销量断层领先。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业绩基本盘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数码、美妆、家居、文具四大品类是平台的基本盘，贡献了近八成（77.86%）的订单。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长尾小众品类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: 运动健身及之后的品类属于长尾小众品类，需求释放有限。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811828-13DD-CF55-B6FB-B4A166799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1" y="1612189"/>
            <a:ext cx="5682622" cy="3879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商品结构分析：长尾效应明显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各大类销售件数占比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397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大类销售件数帕累托图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5627704"/>
            <a:ext cx="10668000" cy="1007012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2231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5373703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 业绩支柱：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数码配件、美妆个护、家居日用三大品类是核心业绩支柱，合计占比超过62%。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 长尾效应明显：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平台不完全符合“二八定律”，需要35.71%的品类来贡献80%的销量，表明长尾效应明显。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 中小品类价值：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中小刚需品类稳定地分流了订单，不能仅依靠头部品类来完成业绩目标。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876F687-F478-6357-EA08-B5602A31E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42" y="1778000"/>
            <a:ext cx="4763015" cy="36032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10B5E44-FDD2-4DFB-5224-2307E0F4B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0" y="1749427"/>
            <a:ext cx="4925365" cy="3525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城市流量分析：流量高度集中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710325" y="1626349"/>
            <a:ext cx="4572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S级流量高地:</a:t>
            </a: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南宁是全域流量的绝对核心，贡献了近25%的流量。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A级中坚城市:</a:t>
            </a:r>
            <a:r>
              <a:rPr lang="en-US" sz="15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珠海、深圳、成都、上海等城市构成了营收的中坚力量</a:t>
            </a: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B级潜力城市:</a:t>
            </a:r>
            <a:r>
              <a:rPr lang="en-US" sz="15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南京、北京、杭州、苏州等城市具有较大的增长潜力</a:t>
            </a: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026162-B199-8D3E-487F-C861ED726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86" y="1421650"/>
            <a:ext cx="6243812" cy="4014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城市消费结构分析：全域消费趋同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09F73D-5201-913E-EA9E-41413C078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588" y="889000"/>
            <a:ext cx="7609138" cy="4593321"/>
          </a:xfrm>
          <a:prstGeom prst="rect">
            <a:avLst/>
          </a:prstGeom>
        </p:spPr>
      </p:pic>
      <p:sp>
        <p:nvSpPr>
          <p:cNvPr id="9" name="AutoShape 5">
            <a:extLst>
              <a:ext uri="{FF2B5EF4-FFF2-40B4-BE49-F238E27FC236}">
                <a16:creationId xmlns:a16="http://schemas.microsoft.com/office/drawing/2014/main" id="{24787914-60DE-0AD5-B379-B3856F2F46CF}"/>
              </a:ext>
            </a:extLst>
          </p:cNvPr>
          <p:cNvSpPr/>
          <p:nvPr/>
        </p:nvSpPr>
        <p:spPr>
          <a:xfrm>
            <a:off x="762000" y="5905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从热力图中可以看出，数码配件、美妆个护、家居日用等品类在所有城市的热度都普遍较高，显示出全国性的消费共性。同时，不同城市在细分品类上也存在一定差异。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用户价值分层：高价值客户与沉睡用户并存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718" r="2718"/>
          <a:stretch>
            <a:fillRect/>
          </a:stretch>
        </p:blipFill>
        <p:spPr>
          <a:xfrm>
            <a:off x="762000" y="1905000"/>
            <a:ext cx="5080000" cy="2984500"/>
          </a:xfrm>
          <a:prstGeom prst="rect">
            <a:avLst/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905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2231A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477000" y="2095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数据洞察：价值分化显著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6477009" y="2635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231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477000" y="27305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高价值核心客户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占比27.4%，平均消费</a:t>
            </a:r>
            <a:r>
              <a:rPr lang="en-US" sz="13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386.7元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，是平台的营收支柱。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潜力客户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占比20%，平均消费</a:t>
            </a:r>
            <a:r>
              <a:rPr lang="en-US" sz="13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139元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，活跃度高但客单价有提升空间。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沉睡流失客户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占比高达50%，平均消费</a:t>
            </a:r>
            <a:r>
              <a:rPr lang="en-US" sz="13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9.7元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，是平台存量用户中亟待唤醒的群体。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核心转化瓶颈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加购-下单转化率为</a:t>
            </a:r>
            <a:r>
              <a:rPr lang="en-US" sz="1300" b="1" i="0" u="none" strike="noStrike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65.62%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，是核心的转化瓶颈。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5270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E2231A">
              <a:alpha val="6000"/>
            </a:srgbClr>
          </a:solidFill>
          <a:ln w="12700" cap="flat" cmpd="sng">
            <a:solidFill>
              <a:srgbClr val="E2231A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5270500"/>
            <a:ext cx="76200" cy="1143000"/>
          </a:xfrm>
          <a:prstGeom prst="roundRect">
            <a:avLst>
              <a:gd name="adj" fmla="val 0"/>
            </a:avLst>
          </a:prstGeom>
          <a:solidFill>
            <a:srgbClr val="E223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5397500"/>
            <a:ext cx="1003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运营策略重心建议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79500" y="5740400"/>
            <a:ext cx="10033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运营重点在于盘活‘加购流失人群’和‘半数沉睡存量用户’。实施分层精细化运营，重点维护高价值客户，防止其流失。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用户画像分析：学生与上班族是主力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961" b="2961"/>
          <a:stretch>
            <a:fillRect/>
          </a:stretch>
        </p:blipFill>
        <p:spPr>
          <a:xfrm>
            <a:off x="762000" y="1524000"/>
            <a:ext cx="5207000" cy="2540000"/>
          </a:xfrm>
          <a:prstGeom prst="rect">
            <a:avLst/>
          </a:prstGeom>
          <a:noFill/>
          <a:ln w="25400" cap="flat" cmpd="sng">
            <a:solidFill>
              <a:srgbClr val="E2231A">
                <a:alpha val="15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0386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图1：全体用户 Top10 职业分布概览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 l="3614" r="3614"/>
          <a:stretch>
            <a:fillRect/>
          </a:stretch>
        </p:blipFill>
        <p:spPr>
          <a:xfrm>
            <a:off x="6223000" y="1524000"/>
            <a:ext cx="5207000" cy="2540000"/>
          </a:xfrm>
          <a:prstGeom prst="rect">
            <a:avLst/>
          </a:prstGeom>
          <a:noFill/>
          <a:ln w="25400" cap="flat" cmpd="sng">
            <a:solidFill>
              <a:srgbClr val="E2231A">
                <a:alpha val="15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6223000" y="40386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图2：不同价值分层用户的职业构成对比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核心洞察与运营启示</a:t>
            </a:r>
            <a:endParaRPr lang="en-US" sz="1100" dirty="0"/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370A4CEE-34FE-6203-7E43-EA2AE50910E8}"/>
              </a:ext>
            </a:extLst>
          </p:cNvPr>
          <p:cNvSpPr/>
          <p:nvPr/>
        </p:nvSpPr>
        <p:spPr>
          <a:xfrm>
            <a:off x="762000" y="4953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E2231A">
              <a:alpha val="7000"/>
            </a:srgbClr>
          </a:solidFill>
          <a:ln w="12700" cap="flat" cmpd="sng">
            <a:solidFill>
              <a:srgbClr val="E2231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0">
            <a:extLst>
              <a:ext uri="{FF2B5EF4-FFF2-40B4-BE49-F238E27FC236}">
                <a16:creationId xmlns:a16="http://schemas.microsoft.com/office/drawing/2014/main" id="{0E375D94-202B-0C31-08F0-2BBFD03AC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143500"/>
            <a:ext cx="304800" cy="304800"/>
          </a:xfrm>
          <a:prstGeom prst="rect">
            <a:avLst/>
          </a:prstGeom>
        </p:spPr>
      </p:pic>
      <p:sp>
        <p:nvSpPr>
          <p:cNvPr id="16" name="AutoShape 11">
            <a:extLst>
              <a:ext uri="{FF2B5EF4-FFF2-40B4-BE49-F238E27FC236}">
                <a16:creationId xmlns:a16="http://schemas.microsoft.com/office/drawing/2014/main" id="{5D40A840-4B0E-E981-E6C2-4B00D3F9A987}"/>
              </a:ext>
            </a:extLst>
          </p:cNvPr>
          <p:cNvSpPr/>
          <p:nvPr/>
        </p:nvSpPr>
        <p:spPr>
          <a:xfrm>
            <a:off x="1371600" y="5143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基础盘：年轻化消费主力稳固</a:t>
            </a:r>
            <a:endParaRPr lang="en-US" sz="1100" dirty="0"/>
          </a:p>
        </p:txBody>
      </p:sp>
      <p:sp>
        <p:nvSpPr>
          <p:cNvPr id="18" name="AutoShape 12">
            <a:extLst>
              <a:ext uri="{FF2B5EF4-FFF2-40B4-BE49-F238E27FC236}">
                <a16:creationId xmlns:a16="http://schemas.microsoft.com/office/drawing/2014/main" id="{41E8EDD2-715B-B14B-ADE9-19E768DC4509}"/>
              </a:ext>
            </a:extLst>
          </p:cNvPr>
          <p:cNvSpPr/>
          <p:nvPr/>
        </p:nvSpPr>
        <p:spPr>
          <a:xfrm>
            <a:off x="952500" y="5562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大学生、上班族与自由职业者是平台流量基石，这一群体追求高效与个性化。建议持续优化年轻化的内容生态，通过场景化营销强化用户粘性，夯实增长基本盘。</a:t>
            </a:r>
            <a:endParaRPr lang="en-US" sz="1100"/>
          </a:p>
        </p:txBody>
      </p:sp>
      <p:sp>
        <p:nvSpPr>
          <p:cNvPr id="20" name="AutoShape 13">
            <a:extLst>
              <a:ext uri="{FF2B5EF4-FFF2-40B4-BE49-F238E27FC236}">
                <a16:creationId xmlns:a16="http://schemas.microsoft.com/office/drawing/2014/main" id="{BFC164F7-A3C1-3E03-5D22-A296114D55E2}"/>
              </a:ext>
            </a:extLst>
          </p:cNvPr>
          <p:cNvSpPr/>
          <p:nvPr/>
        </p:nvSpPr>
        <p:spPr>
          <a:xfrm>
            <a:off x="6223000" y="4953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E2231A">
              <a:alpha val="7000"/>
            </a:srgbClr>
          </a:solidFill>
          <a:ln w="12700" cap="flat" cmpd="sng">
            <a:solidFill>
              <a:srgbClr val="E2231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263D0C5D-9A9A-37BD-6513-388375306A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5143500"/>
            <a:ext cx="304800" cy="304800"/>
          </a:xfrm>
          <a:prstGeom prst="rect">
            <a:avLst/>
          </a:prstGeom>
        </p:spPr>
      </p:pic>
      <p:sp>
        <p:nvSpPr>
          <p:cNvPr id="24" name="AutoShape 15">
            <a:extLst>
              <a:ext uri="{FF2B5EF4-FFF2-40B4-BE49-F238E27FC236}">
                <a16:creationId xmlns:a16="http://schemas.microsoft.com/office/drawing/2014/main" id="{2DFF98F2-FAE9-1171-434C-921823901552}"/>
              </a:ext>
            </a:extLst>
          </p:cNvPr>
          <p:cNvSpPr/>
          <p:nvPr/>
        </p:nvSpPr>
        <p:spPr>
          <a:xfrm>
            <a:off x="6832600" y="5143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差异化：分层运营提升价值</a:t>
            </a:r>
            <a:endParaRPr lang="en-US" sz="1100" dirty="0"/>
          </a:p>
        </p:txBody>
      </p:sp>
      <p:sp>
        <p:nvSpPr>
          <p:cNvPr id="26" name="AutoShape 16">
            <a:extLst>
              <a:ext uri="{FF2B5EF4-FFF2-40B4-BE49-F238E27FC236}">
                <a16:creationId xmlns:a16="http://schemas.microsoft.com/office/drawing/2014/main" id="{AC6D2030-2DB3-959D-4F33-1046B803041F}"/>
              </a:ext>
            </a:extLst>
          </p:cNvPr>
          <p:cNvSpPr/>
          <p:nvPr/>
        </p:nvSpPr>
        <p:spPr>
          <a:xfrm>
            <a:off x="6413500" y="5562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高价值客户中创业者与上班族占比显著，可提供尊享会员权益与定制化服务挖掘潜力；针对大学生新客，通过轻量化、高性价比的促销活动降低门槛，加速首单转化与用户生命周期培养。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研究总结与策略建议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800" b="1" i="0" u="none" strike="noStrike" dirty="0" err="1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分品类运营策略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数码配件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全周期秒杀，主会场置顶，S级城市增设本地专区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家居日用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设置多件折上折，承接流量进行二次转化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美妆个护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主推礼盒套装和第二件半价，拉高客单价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长尾品类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设立独立分会场，通过短视频内容种草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36195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800" b="1" i="0" u="none" strike="noStrike" dirty="0" err="1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分城市差异化投放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S级城市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南宁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投入重资源，开展社群裂变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A级城市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推行多品类捆绑套餐，提升客单价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B级城市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投放新人优惠和首单包邮，激活潜在用户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5334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800" b="1" i="0" u="none" strike="noStrike" dirty="0" err="1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全域统一优化总结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品类层面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构建“头部保大盘、腰部挖增量”的双运营体系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地域层面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采用统一商品结构，按流量规模分配资源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用户层面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重点盘活加购流失人群和半数沉睡存量用户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宽屏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彦菲 谢</cp:lastModifiedBy>
  <cp:revision>1</cp:revision>
  <dcterms:modified xsi:type="dcterms:W3CDTF">2026-08-07T05:53:52Z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{"Label":"1","ContentProducer":"001191110102MACQD9K64010000","ProduceID":"7671162078526934227","ReservedCode1":"","ContentPropagator":"","PropagateID":"","ReservedCode2":""}</vt:lpwstr>
  </property>
</Properties>
</file>