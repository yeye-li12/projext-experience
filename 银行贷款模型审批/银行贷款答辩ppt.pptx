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8" r:id="rId16"/>
    <p:sldId id="27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XGB
DROP_CITY</c:v>
                </c:pt>
                <c:pt idx="1">
                  <c:v>XGB+CAT
Stacking</c:v>
                </c:pt>
                <c:pt idx="2">
                  <c:v>CAT60/XGB40
Fusion</c:v>
                </c:pt>
                <c:pt idx="3">
                  <c:v>XGB+CAT+LGB
Stacking</c:v>
                </c:pt>
                <c:pt idx="4">
                  <c:v>CatBoost
FULL</c:v>
                </c:pt>
                <c:pt idx="5">
                  <c:v>LightGBM
DROP_CITY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0.11197500000000001</c:v>
                </c:pt>
                <c:pt idx="1">
                  <c:v>0.107531</c:v>
                </c:pt>
                <c:pt idx="2">
                  <c:v>0.106514</c:v>
                </c:pt>
                <c:pt idx="3">
                  <c:v>0.104991</c:v>
                </c:pt>
                <c:pt idx="4">
                  <c:v>9.214E-2</c:v>
                </c:pt>
                <c:pt idx="5">
                  <c:v>8.9215000000000003E-2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1-4488-8842-659E4B934D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115"/>
          <c:min val="0.0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786384"/>
            <a:ext cx="1828800" cy="310896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050" b="1">
                <a:solidFill>
                  <a:srgbClr val="305CA8"/>
                </a:solidFill>
                <a:latin typeface="Microsoft YaHei"/>
              </a:defRPr>
            </a:pPr>
            <a:r>
              <a:t>答辩汇报 · Final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8046720" cy="5943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3600" b="1">
                <a:solidFill>
                  <a:srgbClr val="142A4E"/>
                </a:solidFill>
                <a:latin typeface="Microsoft YaHei"/>
              </a:defRPr>
            </a:pPr>
            <a:r>
              <a:t>银行贷款审批预测模型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7498079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800" b="0">
                <a:solidFill>
                  <a:srgbClr val="647082"/>
                </a:solidFill>
                <a:latin typeface="Microsoft YaHei"/>
              </a:defRPr>
            </a:pPr>
            <a:r>
              <a:t>基于特征工程与 XGBoost 的极度不平衡分类建模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61488"/>
            <a:ext cx="475488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305CA8"/>
                </a:solidFill>
                <a:latin typeface="Microsoft YaHei"/>
              </a:defRPr>
            </a:pPr>
            <a:r>
              <a:t>主指标：PR-AUC     参考指标：ROC-AUC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36118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最终版本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500">
                <a:solidFill>
                  <a:srgbClr val="1C222D"/>
                </a:solidFill>
                <a:latin typeface="Microsoft YaHei"/>
              </a:defRPr>
            </a:pPr>
            <a:r>
              <a:t>bank_loan_final_refit_v11</a:t>
            </a:r>
            <a:br/>
            <a:br/>
            <a:r>
              <a:t>XGBoost X08 + DROP_CITY</a:t>
            </a:r>
            <a:br/>
            <a:br/>
            <a:r>
              <a:t>20 个最终特征</a:t>
            </a:r>
            <a:br/>
            <a:r>
              <a:t>43,980 条全量重训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272784"/>
            <a:ext cx="3840480" cy="2286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647082"/>
                </a:solidFill>
                <a:latin typeface="Microsoft YaHei"/>
              </a:defRPr>
            </a:pPr>
            <a:r>
              <a:t>小组汇报 / 贷款审批预测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汇报核心结论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rPr dirty="0" err="1"/>
              <a:t>先说明最终选择，再解释为什么这样做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3429000" cy="114300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最终模型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50">
                <a:solidFill>
                  <a:srgbClr val="1C222D"/>
                </a:solidFill>
                <a:latin typeface="Microsoft YaHei"/>
              </a:defRPr>
            </a:pPr>
            <a:r>
              <a:t>XGBoost X08 + DROP_CITY</a:t>
            </a:r>
            <a:br/>
            <a:r>
              <a:t>20 个最终特征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数据难点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50">
                <a:solidFill>
                  <a:srgbClr val="1C222D"/>
                </a:solidFill>
                <a:latin typeface="Microsoft YaHei"/>
              </a:defRPr>
            </a:pPr>
            <a:r>
              <a:t>Approved=1 约 1.53%</a:t>
            </a:r>
            <a:br/>
            <a:r>
              <a:t>Accuracy 不适合作为主指标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29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最终流程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50">
                <a:solidFill>
                  <a:srgbClr val="1C222D"/>
                </a:solidFill>
                <a:latin typeface="Microsoft YaHei"/>
              </a:defRPr>
            </a:pPr>
            <a:r>
              <a:t>全量 43,980 条 Train 重训</a:t>
            </a:r>
            <a:br/>
            <a:r>
              <a:t>Test 只做 transform + predict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16352"/>
            <a:ext cx="5257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防泄露原则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审批后信息剔除；所有中位数、P99、类别编码等统计规则只从 Train 学习。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816352"/>
            <a:ext cx="5257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模型筛选原则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Baseline → 不平衡处理 → 调参 → 消融 → Fusion / Stacking；最终按 PR-AUC 与盲测表现决定。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572000"/>
            <a:ext cx="10881360" cy="8229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一句话结论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500">
                <a:solidFill>
                  <a:srgbClr val="1C222D"/>
                </a:solidFill>
                <a:latin typeface="Microsoft YaHei"/>
              </a:defRPr>
            </a:pPr>
            <a:r>
              <a:t>不是选择最复杂的模型，而是选择在主指标 PR-AUC 与教师端盲测泛化上最稳的方案。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项目背景与业务目标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用申请阶段可得信息，预测客户是否更可能通过审批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512064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业务场景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20">
                <a:solidFill>
                  <a:srgbClr val="1C222D"/>
                </a:solidFill>
                <a:latin typeface="Microsoft YaHei"/>
              </a:defRPr>
            </a:pPr>
            <a:r>
              <a:t>• 客户提交贷款申请后，银行需要快速判断其审批通过倾向</a:t>
            </a:r>
            <a:br/>
            <a:br/>
            <a:r>
              <a:t>• 审核和跟进资源有限，不能对所有客户投入同等成本</a:t>
            </a:r>
            <a:br/>
            <a:br/>
            <a:r>
              <a:t>• 模型输出的是辅助排序分数，不是最终审批结论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120640" cy="114300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输入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500">
                <a:solidFill>
                  <a:srgbClr val="1C222D"/>
                </a:solidFill>
                <a:latin typeface="Microsoft YaHei"/>
              </a:defRPr>
            </a:pPr>
            <a:r>
              <a:t>申请信息、收入、贷款信息、银行/渠道字段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2606040"/>
            <a:ext cx="0" cy="365760"/>
          </a:xfrm>
          <a:prstGeom prst="line">
            <a:avLst/>
          </a:prstGeom>
          <a:ln w="22860">
            <a:solidFill>
              <a:srgbClr val="305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2971800"/>
            <a:ext cx="51206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模型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500">
                <a:solidFill>
                  <a:srgbClr val="1C222D"/>
                </a:solidFill>
                <a:latin typeface="Microsoft YaHei"/>
              </a:defRPr>
            </a:pPr>
            <a:r>
              <a:t>学习 Approved=1 的排序规律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4251960"/>
            <a:ext cx="0" cy="365760"/>
          </a:xfrm>
          <a:prstGeom prst="line">
            <a:avLst/>
          </a:prstGeom>
          <a:ln w="22860">
            <a:solidFill>
              <a:srgbClr val="305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617720"/>
            <a:ext cx="5120640" cy="9144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输出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50">
                <a:solidFill>
                  <a:srgbClr val="1C222D"/>
                </a:solidFill>
                <a:latin typeface="Microsoft YaHei"/>
              </a:defRPr>
            </a:pPr>
            <a:r>
              <a:t>客户审批通过倾向分数：分数越高，越优先关注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5" y="256032"/>
            <a:ext cx="9882835" cy="427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rPr dirty="0" err="1"/>
              <a:t>数据说明与核心难点</a:t>
            </a:r>
            <a:r>
              <a:rPr lang="zh-CN" altLang="en-US" dirty="0"/>
              <a:t>：类别不平衡、字段泄露、时间泛化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训练集正样本极少，模型需要关注少数类排序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2423160" cy="109728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43,980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00">
                <a:solidFill>
                  <a:srgbClr val="1C222D"/>
                </a:solidFill>
                <a:latin typeface="Microsoft YaHei"/>
              </a:defRPr>
            </a:pPr>
            <a:r>
              <a:t>Train 有标签样本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32588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25,733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00">
                <a:solidFill>
                  <a:srgbClr val="1C222D"/>
                </a:solidFill>
                <a:latin typeface="Microsoft YaHei"/>
              </a:defRPr>
            </a:pPr>
            <a:r>
              <a:t>Test 无标签样本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674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00">
                <a:solidFill>
                  <a:srgbClr val="1C222D"/>
                </a:solidFill>
                <a:latin typeface="Microsoft YaHei"/>
              </a:defRPr>
            </a:pPr>
            <a:r>
              <a:t>Approved=1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132588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1.53%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00">
                <a:solidFill>
                  <a:srgbClr val="1C222D"/>
                </a:solidFill>
                <a:latin typeface="Microsoft YaHei"/>
              </a:defRPr>
            </a:pPr>
            <a:r>
              <a:t>训练集正样本率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34640"/>
            <a:ext cx="2743200" cy="29260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类别分布示意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337560"/>
            <a:ext cx="8138160" cy="347472"/>
          </a:xfrm>
          <a:prstGeom prst="rect">
            <a:avLst/>
          </a:prstGeom>
          <a:solidFill>
            <a:srgbClr val="3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15400" y="3337560"/>
            <a:ext cx="128016" cy="347472"/>
          </a:xfrm>
          <a:prstGeom prst="rect">
            <a:avLst/>
          </a:prstGeom>
          <a:solidFill>
            <a:srgbClr val="E6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767328"/>
            <a:ext cx="3657600" cy="2286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647082"/>
                </a:solidFill>
                <a:latin typeface="Microsoft YaHei"/>
              </a:defRPr>
            </a:pPr>
            <a:r>
              <a:t>Approved=0：绝大多数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67328"/>
            <a:ext cx="1828800" cy="2286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E68F36"/>
                </a:solidFill>
                <a:latin typeface="Microsoft YaHei"/>
              </a:defRPr>
            </a:pPr>
            <a:r>
              <a:t>Approved=1：极少数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663440"/>
            <a:ext cx="34290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42A4E"/>
                </a:solidFill>
                <a:latin typeface="Microsoft YaHei"/>
              </a:defRPr>
            </a:pPr>
            <a:r>
              <a:t>难点 1：类别不平衡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Accuracy 会被负样本主导。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4663440"/>
            <a:ext cx="34290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42A4E"/>
                </a:solidFill>
                <a:latin typeface="Microsoft YaHei"/>
              </a:defRPr>
            </a:pPr>
            <a:r>
              <a:t>难点 2：字段泄露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审批后字段不能入模。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4663440"/>
            <a:ext cx="34290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42A4E"/>
                </a:solidFill>
                <a:latin typeface="Microsoft YaHei"/>
              </a:defRPr>
            </a:pPr>
            <a:r>
              <a:t>难点 3：时间泛化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Train / Test 分布可能漂移。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两阶段建模策略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开发阶段用于选模型，最终阶段用于全量重训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51663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模型开发阶段 V1.4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原始 Train 按时间排序</a:t>
            </a:r>
            <a:br/>
            <a:br/>
            <a:r>
              <a:t>前 80%：Train</a:t>
            </a:r>
            <a:br/>
            <a:r>
              <a:t>• fit 预处理</a:t>
            </a:r>
            <a:br/>
            <a:r>
              <a:t>• 训练模型</a:t>
            </a:r>
            <a:br/>
            <a:br/>
            <a:r>
              <a:t>后 20%：Validation</a:t>
            </a:r>
            <a:br/>
            <a:r>
              <a:t>• 模型比较</a:t>
            </a:r>
            <a:br/>
            <a:r>
              <a:t>• 调参选择</a:t>
            </a:r>
            <a:br/>
            <a:r>
              <a:t>• 特征消融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53312"/>
            <a:ext cx="5166360" cy="438912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最终提交阶段 V1.1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模型、参数、特征已冻结</a:t>
            </a:r>
            <a:br/>
            <a:br/>
            <a:r>
              <a:t>100% Train：</a:t>
            </a:r>
            <a:br/>
            <a:r>
              <a:t>• 重新 fit 预处理</a:t>
            </a:r>
            <a:br/>
            <a:r>
              <a:t>• 训练最终模型</a:t>
            </a:r>
            <a:br/>
            <a:br/>
            <a:r>
              <a:t>Test：</a:t>
            </a:r>
            <a:br/>
            <a:r>
              <a:t>• transform</a:t>
            </a:r>
            <a:br/>
            <a:r>
              <a:t>• predict_proba</a:t>
            </a:r>
            <a:br/>
            <a:r>
              <a:t>• 生成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925312"/>
            <a:ext cx="4023360" cy="31089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050" b="1">
                <a:solidFill>
                  <a:srgbClr val="142A4E"/>
                </a:solidFill>
                <a:latin typeface="Microsoft YaHei"/>
              </a:defRPr>
            </a:pPr>
            <a:r>
              <a:t>V1.4 的目标：可靠地选模型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925312"/>
            <a:ext cx="4297680" cy="31089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050" b="1">
                <a:solidFill>
                  <a:srgbClr val="142A4E"/>
                </a:solidFill>
                <a:latin typeface="Microsoft YaHei"/>
              </a:defRPr>
            </a:pPr>
            <a:r>
              <a:t>V1.1 的目标：充分利用全部标签数据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特征可用性与防泄露判断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并非所有字段都能进入模型：以预测时点是否可得为核心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5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5</a:t>
            </a:r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298448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字段类型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代表字段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主键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不入模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无直接预测意义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审批后信息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Contacted / Interest_Rate / EMI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删除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预测时点不可用，泄露风险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日期字段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DOB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衍生 Age 后删除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原始日期不直接入模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高基数字段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Employer_Code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删除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未来未见类别多，泛化不稳定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城市字段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City_Code / City_Category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消融后删除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对最终 XGB 的 PR-AUC 不利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120640"/>
            <a:ext cx="10378440" cy="64008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42A4E"/>
                </a:solidFill>
                <a:latin typeface="Microsoft YaHei"/>
              </a:defRPr>
            </a:pPr>
            <a:r>
              <a:t>关键理解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00">
                <a:solidFill>
                  <a:srgbClr val="1C222D"/>
                </a:solidFill>
                <a:latin typeface="Microsoft YaHei"/>
              </a:defRPr>
            </a:pPr>
            <a:r>
              <a:t>字段删除原因分为三类：泄露风险、泛化不稳定、消融实验后确认噪声。不是所有删除字段都是泄露字段。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防泄露设计：fit 与 transform 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只让模型学习过去 Train 中可获得的信息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6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6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057400" cy="91440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Step 1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Train 学规则</a:t>
            </a:r>
            <a:br/>
            <a:r>
              <a:t>median / P99 / 编码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74519"/>
            <a:ext cx="685800" cy="0"/>
          </a:xfrm>
          <a:prstGeom prst="line">
            <a:avLst/>
          </a:prstGeom>
          <a:ln w="22860">
            <a:solidFill>
              <a:srgbClr val="305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41732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Step 2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Transform Valid</a:t>
            </a:r>
            <a:br/>
            <a:r>
              <a:t>只套用规则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1874519"/>
            <a:ext cx="685800" cy="0"/>
          </a:xfrm>
          <a:prstGeom prst="line">
            <a:avLst/>
          </a:prstGeom>
          <a:ln w="22860">
            <a:solidFill>
              <a:srgbClr val="305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0" y="141732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Step 3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Transform Test</a:t>
            </a:r>
            <a:br/>
            <a:r>
              <a:t>不重新 fit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32520" y="1874519"/>
            <a:ext cx="685800" cy="0"/>
          </a:xfrm>
          <a:prstGeom prst="line">
            <a:avLst/>
          </a:prstGeom>
          <a:ln w="22860">
            <a:solidFill>
              <a:srgbClr val="305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64040" y="1417320"/>
            <a:ext cx="1965960" cy="9144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Step 4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预测分数</a:t>
            </a:r>
            <a:br/>
            <a:r>
              <a:t>提交评估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绝对不能做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30">
                <a:solidFill>
                  <a:srgbClr val="1C222D"/>
                </a:solidFill>
                <a:latin typeface="Microsoft YaHei"/>
              </a:defRPr>
            </a:pPr>
            <a:r>
              <a:t>用 Valid/Test 共同计算中位数、P99 或类别编码；这会让未来数据影响训练规则。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63240"/>
            <a:ext cx="5074920" cy="114300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00" b="1">
                <a:solidFill>
                  <a:srgbClr val="142A4E"/>
                </a:solidFill>
                <a:latin typeface="Microsoft YaHei"/>
              </a:defRPr>
            </a:pPr>
            <a:r>
              <a:t>我们实际做法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30">
                <a:solidFill>
                  <a:srgbClr val="1C222D"/>
                </a:solidFill>
                <a:latin typeface="Microsoft YaHei"/>
              </a:defRPr>
            </a:pPr>
            <a:r>
              <a:t>V1.4：前80% Train fit 预处理；V1.1：全量 Train fit 预处理；Test 始终只 transform。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892040"/>
            <a:ext cx="7863840" cy="40233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300" b="1">
                <a:solidFill>
                  <a:srgbClr val="142A4E"/>
                </a:solidFill>
                <a:latin typeface="Microsoft YaHei"/>
              </a:defRPr>
            </a:pPr>
            <a:r>
              <a:t>核心：Test 从不参与任何统计量计算，也不参与模型训练。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缺失值填补：具体字段如何处理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不是简单填 0，而是按字段含义保留缺失信息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7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altLang="zh-CN" dirty="0"/>
              <a:t>7</a:t>
            </a:r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1018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字段/特征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处理方式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补充说明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Monthly_Income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Train 中位数填补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同时用于 Log_Income、DTI 等衍生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Existing_EMI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Train 中位数填补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生成 EMI_Zero_Flag；P99 缩尾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Var1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Train 中位数填补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作为原始数值特征保留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DOB + 申请日期计算；异常设缺失；Train 中位数填补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额外生成 Age_Missing 与 Age_Bin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Loan_Amount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先按 Loan_Period 的 Train 条件中位数填补，再用全局中位数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保留贷款金额与期限的业务关系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Train 全局中位数填补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与 Loan_Amount 一起生成 Loan_Info_Missing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577840"/>
            <a:ext cx="10424160" cy="530352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300" b="1">
                <a:solidFill>
                  <a:srgbClr val="142A4E"/>
                </a:solidFill>
                <a:latin typeface="Microsoft YaHei"/>
              </a:defRPr>
            </a:pPr>
            <a:r>
              <a:t>特别说明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50">
                <a:solidFill>
                  <a:srgbClr val="1C222D"/>
                </a:solidFill>
                <a:latin typeface="Microsoft YaHei"/>
              </a:defRPr>
            </a:pPr>
            <a:r>
              <a:t>Approved 是标签列，不做填补；缺失处理只针对模型输入特征。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类别变量处理：UNKNOWN 与未见类别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保证 Valid/Test 使用 Train 已学到的类别映射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lang="en-US" altLang="zh-CN" dirty="0"/>
              <a:t>08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lang="en-US" altLang="zh-CN" dirty="0"/>
              <a:t>08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333756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类别缺失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所有类别变量缺失值先统一填成：</a:t>
            </a:r>
            <a:br/>
            <a:br/>
            <a:r>
              <a:t>UNKNOWN</a:t>
            </a:r>
            <a:br/>
            <a:br/>
            <a:r>
              <a:t>这样模型可以学习“未知类别”本身是否带来风险。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37560" cy="402336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Label Encoding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只在 Train 上 fit 映射：</a:t>
            </a:r>
            <a:br/>
            <a:br/>
            <a:r>
              <a:t>A → 0</a:t>
            </a:r>
            <a:br/>
            <a:r>
              <a:t>B → 1</a:t>
            </a:r>
            <a:br/>
            <a:r>
              <a:t>C → 2</a:t>
            </a:r>
            <a:br/>
            <a:br/>
            <a:r>
              <a:t>Valid/Test 只能沿用这个映射。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71600"/>
            <a:ext cx="333756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训练未见类别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如果 Test 出现 Train 没见过的新类别：</a:t>
            </a:r>
            <a:br/>
            <a:br/>
            <a:r>
              <a:t>新类别 → -1</a:t>
            </a:r>
            <a:br/>
            <a:br/>
            <a:r>
              <a:t>不允许用 Test 重新 fit 编码器。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5779008"/>
            <a:ext cx="8138160" cy="31089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142A4E"/>
                </a:solidFill>
                <a:latin typeface="Microsoft YaHei"/>
              </a:defRPr>
            </a:pPr>
            <a:r>
              <a:t>作用：避免未来数据提前影响类别编码，同时能监测分布漂移。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长尾收入与 Log_Income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用对数变换给模型一个更平滑的收入表达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lang="en-US" altLang="zh-CN" dirty="0"/>
              <a:t>09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lang="en-US" altLang="zh-CN" dirty="0"/>
              <a:t>09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36576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rPr lang="zh-CN" altLang="en-US" dirty="0"/>
              <a:t>长尾收入：</a:t>
            </a:r>
            <a:endParaRPr dirty="0"/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rPr dirty="0" err="1"/>
              <a:t>大多数客户收入集中在中低区间，但少数客户收入非常高，把分布右侧拉得很长</a:t>
            </a:r>
            <a:r>
              <a:rPr dirty="0"/>
              <a:t>。</a:t>
            </a:r>
            <a:br>
              <a:rPr dirty="0"/>
            </a:br>
            <a:br>
              <a:rPr dirty="0"/>
            </a:br>
            <a:r>
              <a:rPr dirty="0" err="1"/>
              <a:t>这种变量容易被极端值影响</a:t>
            </a:r>
            <a:r>
              <a:rPr dirty="0"/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16736"/>
            <a:ext cx="548640" cy="2286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647082"/>
                </a:solidFill>
                <a:latin typeface="Microsoft YaHei"/>
              </a:defRPr>
            </a:pPr>
            <a:r>
              <a:t>人数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697479"/>
            <a:ext cx="228600" cy="1737360"/>
          </a:xfrm>
          <a:prstGeom prst="rect">
            <a:avLst/>
          </a:prstGeom>
          <a:solidFill>
            <a:srgbClr val="3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66359" y="3108959"/>
            <a:ext cx="228600" cy="1325880"/>
          </a:xfrm>
          <a:prstGeom prst="rect">
            <a:avLst/>
          </a:prstGeom>
          <a:solidFill>
            <a:srgbClr val="3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0" y="3474720"/>
            <a:ext cx="228600" cy="960120"/>
          </a:xfrm>
          <a:prstGeom prst="rect">
            <a:avLst/>
          </a:prstGeom>
          <a:solidFill>
            <a:srgbClr val="3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6440" y="3813048"/>
            <a:ext cx="228600" cy="621792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79" y="4050791"/>
            <a:ext cx="228600" cy="38404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20" y="4206240"/>
            <a:ext cx="228600" cy="22860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6559" y="4306824"/>
            <a:ext cx="228600" cy="128016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4361688"/>
            <a:ext cx="228600" cy="73152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590288"/>
            <a:ext cx="54864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647082"/>
                </a:solidFill>
                <a:latin typeface="Microsoft YaHei"/>
              </a:defRPr>
            </a:pPr>
            <a:r>
              <a:t>收入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325880"/>
            <a:ext cx="3566160" cy="429768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rPr dirty="0" err="1"/>
              <a:t>Log_Income</a:t>
            </a:r>
            <a:r>
              <a:rPr dirty="0"/>
              <a:t> = log(1 + </a:t>
            </a:r>
            <a:r>
              <a:rPr dirty="0" err="1"/>
              <a:t>Monthly_Income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作用：压缩特别大的收入值，同时保留收入排序信息</a:t>
            </a:r>
            <a:r>
              <a:rPr dirty="0"/>
              <a:t>。</a:t>
            </a:r>
            <a:br>
              <a:rPr dirty="0"/>
            </a:br>
            <a:br>
              <a:rPr dirty="0"/>
            </a:br>
            <a:r>
              <a:rPr dirty="0" err="1"/>
              <a:t>最终模型同时保留</a:t>
            </a:r>
            <a:r>
              <a:rPr dirty="0"/>
              <a:t> </a:t>
            </a:r>
            <a:r>
              <a:rPr dirty="0" err="1"/>
              <a:t>Monthly_Income</a:t>
            </a:r>
            <a:r>
              <a:rPr dirty="0"/>
              <a:t> 与 </a:t>
            </a:r>
            <a:r>
              <a:rPr dirty="0" err="1"/>
              <a:t>Log_Income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业务特征工程：公式与含义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围绕收入能力、债务压力与信息完整性构造变量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0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0</a:t>
            </a:r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公式 / 规则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业务含义</a:t>
                      </a:r>
                    </a:p>
                  </a:txBody>
                  <a:tcPr marL="54864" marR="54864" marT="27432" marB="27432" anchor="ctr">
                    <a:solidFill>
                      <a:srgbClr val="14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DTI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Existing_EMI / Monthly_Income，clip[0,5]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已有债务压力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Loan_to_Income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Loan_Amount / Monthly_Income，clip[0,100]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本次申请贷款负担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Log_Income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log(1 + Monthly_Income)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收入长尾压缩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EMI_Zero_Flag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Existing_EMI == 0 →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是否无已有 EMI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Loan_Info_Missing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Loan_Amount 或 Loan_Period 原始缺失 →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贷款信息是否完整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Age_Bin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18–24 / 25–34 / 35–44 / 45–54 / 55–65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1C222D"/>
                          </a:solidFill>
                          <a:latin typeface="Microsoft YaHei"/>
                        </a:defRPr>
                      </a:pPr>
                      <a:r>
                        <a:t>年龄阶段差异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508760" y="5989320"/>
            <a:ext cx="9144000" cy="31089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142A4E"/>
                </a:solidFill>
                <a:latin typeface="Microsoft YaHei"/>
              </a:defRPr>
            </a:pPr>
            <a:r>
              <a:t>思路：不是机械堆字段，而是把原始字段转成更贴近贷款审批的业务信号。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最终特征集合：22 个候选 → 20 个最终特征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通过特征消融发现 City 类特征对最终 XGBoost 不利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1234440"/>
            <a:ext cx="50292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数值与衍生特征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• Monthly_Income</a:t>
            </a:r>
            <a:br/>
            <a:r>
              <a:t>• Existing_EMI</a:t>
            </a:r>
            <a:br/>
            <a:r>
              <a:t>• Var1</a:t>
            </a:r>
            <a:br/>
            <a:r>
              <a:t>• Loan_Amount</a:t>
            </a:r>
            <a:br/>
            <a:r>
              <a:t>• Loan_Period</a:t>
            </a:r>
            <a:br/>
            <a:r>
              <a:t>• Loan_Info_Missing</a:t>
            </a:r>
            <a:br/>
            <a:r>
              <a:t>• Age</a:t>
            </a:r>
            <a:br/>
            <a:r>
              <a:t>• Age_Missing</a:t>
            </a:r>
            <a:br/>
            <a:r>
              <a:t>• DTI</a:t>
            </a:r>
            <a:br/>
            <a:r>
              <a:t>• Log_Income</a:t>
            </a:r>
            <a:br/>
            <a:r>
              <a:t>• Loan_to_Income</a:t>
            </a:r>
            <a:br/>
            <a:r>
              <a:t>• EMI_Zero_Flag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029200" cy="452628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类别特征与消融结果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• Gender</a:t>
            </a:r>
            <a:br/>
            <a:r>
              <a:t>• Employer_Category1</a:t>
            </a:r>
            <a:br/>
            <a:r>
              <a:t>• Employer_Category2</a:t>
            </a:r>
            <a:br/>
            <a:r>
              <a:t>• Existing Bank Code</a:t>
            </a:r>
            <a:br/>
            <a:r>
              <a:t>• Primary_Bank_Type</a:t>
            </a:r>
            <a:br/>
            <a:r>
              <a:t>• Source</a:t>
            </a:r>
            <a:br/>
            <a:r>
              <a:t>• Source_Category</a:t>
            </a:r>
            <a:br/>
            <a:r>
              <a:t>• Age_Bin</a:t>
            </a:r>
            <a:br/>
            <a:br/>
            <a:r>
              <a:t>删除：City_Code + City_Category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5989320"/>
            <a:ext cx="8686800" cy="310896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142A4E"/>
                </a:solidFill>
                <a:latin typeface="Microsoft YaHei"/>
              </a:defRPr>
            </a:pPr>
            <a:r>
              <a:t>最终保留 20 个特征进入 XGBoost；City 类特征由消融实验确认后删除。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模型筛选流程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从简单基线到复杂融合，最终以 PR-AUC 与盲测结果决定保留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1 Baseline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Logistic / RF / LGB / XGB / CAT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23944" y="1984248"/>
            <a:ext cx="246888" cy="0"/>
          </a:xfrm>
          <a:prstGeom prst="line">
            <a:avLst/>
          </a:prstGeom>
          <a:ln w="15240">
            <a:solidFill>
              <a:srgbClr val="EC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62272" y="137160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2 不平衡处理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class_weight / scale_pos_weight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72983" y="1984248"/>
            <a:ext cx="246888" cy="0"/>
          </a:xfrm>
          <a:prstGeom prst="line">
            <a:avLst/>
          </a:prstGeom>
          <a:ln w="15240">
            <a:solidFill>
              <a:srgbClr val="EC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11311" y="137160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3 参数调优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XGB_X08 / CAT_C08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4612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4 特征消融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DROP_CITY 等特征组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23944" y="3858768"/>
            <a:ext cx="246888" cy="0"/>
          </a:xfrm>
          <a:prstGeom prst="line">
            <a:avLst/>
          </a:prstGeom>
          <a:ln w="15240">
            <a:solidFill>
              <a:srgbClr val="EC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62272" y="324612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5 融合与 Stacking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Rank Fusion / OOF Stacking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72983" y="3858768"/>
            <a:ext cx="246888" cy="0"/>
          </a:xfrm>
          <a:prstGeom prst="line">
            <a:avLst/>
          </a:prstGeom>
          <a:ln w="15240">
            <a:solidFill>
              <a:srgbClr val="EC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11311" y="3246120"/>
            <a:ext cx="3337560" cy="123444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550" b="1">
                <a:solidFill>
                  <a:srgbClr val="142A4E"/>
                </a:solidFill>
                <a:latin typeface="Microsoft YaHei"/>
              </a:defRPr>
            </a:pPr>
            <a:r>
              <a:t>6 最终选择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70">
                <a:solidFill>
                  <a:srgbClr val="1C222D"/>
                </a:solidFill>
                <a:latin typeface="Microsoft YaHei"/>
              </a:defRPr>
            </a:pPr>
            <a:r>
              <a:t>V1.1 XGB + DROP_CITY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486400"/>
            <a:ext cx="9966960" cy="530352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300" b="1">
                <a:solidFill>
                  <a:srgbClr val="142A4E"/>
                </a:solidFill>
                <a:latin typeface="Microsoft YaHei"/>
              </a:defRPr>
            </a:pPr>
            <a:r>
              <a:t>筛选原则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200">
                <a:solidFill>
                  <a:srgbClr val="1C222D"/>
                </a:solidFill>
                <a:latin typeface="Microsoft YaHei"/>
              </a:defRPr>
            </a:pPr>
            <a:r>
              <a:t>PR-AUC 优先；ROC-AUC 参考；同时考虑时间稳定性。模型复杂度不单独构成优势。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模型对比：PR-AUC 决定最终选择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复杂模型并不一定在主指标上更优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altLang="zh-CN" dirty="0"/>
              <a:t>3</a:t>
            </a:r>
            <a:endParaRPr dirty="0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3258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52360" y="1325880"/>
            <a:ext cx="3977639" cy="123444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最终开发结论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XGBoost DROP_CITY 在 PR-AUC 上最高。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788920"/>
            <a:ext cx="39776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融合结论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Fusion / Stacking 部分提升 ROC，但 PR 不如 XGB。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251960"/>
            <a:ext cx="39776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600" b="1">
                <a:solidFill>
                  <a:srgbClr val="142A4E"/>
                </a:solidFill>
                <a:latin typeface="Microsoft YaHei"/>
              </a:defRPr>
            </a:pPr>
            <a:r>
              <a:t>最终提交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1C222D"/>
                </a:solidFill>
                <a:latin typeface="Microsoft YaHei"/>
              </a:defRPr>
            </a:pPr>
            <a:r>
              <a:t>四次教师端比对后，V1.1 仍是最佳版本。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8046720" cy="38404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2600" b="1">
                <a:solidFill>
                  <a:srgbClr val="142A4E"/>
                </a:solidFill>
                <a:latin typeface="Microsoft YaHei"/>
              </a:defRPr>
            </a:pPr>
            <a:r>
              <a:t>业务应用与后续改进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13232"/>
            <a:ext cx="95097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647082"/>
                </a:solidFill>
                <a:latin typeface="Microsoft YaHei"/>
              </a:defRPr>
            </a:pPr>
            <a:r>
              <a:t>把模型分数用于分层排序，同时继续提升跨时间稳定性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822960" cy="20383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1100" b="1">
                <a:solidFill>
                  <a:srgbClr val="305CA8"/>
                </a:solidFill>
                <a:latin typeface="Microsoft YaHei"/>
              </a:defRPr>
            </a:pPr>
            <a:r>
              <a:rPr lang="en-US" altLang="zh-CN" dirty="0"/>
              <a:t>14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85216" y="1024128"/>
            <a:ext cx="11018520" cy="182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457200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647082"/>
                </a:solidFill>
                <a:latin typeface="Microsoft YaHei"/>
              </a:defRPr>
            </a:pPr>
            <a:r>
              <a:t>银行贷款审批预测模型答辩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64808"/>
            <a:ext cx="502920" cy="17344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lnSpc>
                <a:spcPct val="105000"/>
              </a:lnSpc>
              <a:defRPr sz="900" b="0">
                <a:solidFill>
                  <a:srgbClr val="647082"/>
                </a:solidFill>
                <a:latin typeface="Microsoft YaHei"/>
              </a:defRPr>
            </a:pPr>
            <a:r>
              <a:rPr lang="en-US" altLang="zh-CN" dirty="0"/>
              <a:t>14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1234440"/>
            <a:ext cx="5074920" cy="4526280"/>
          </a:xfrm>
          <a:prstGeom prst="roundRect">
            <a:avLst/>
          </a:prstGeom>
          <a:solidFill>
            <a:srgbClr val="E5E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业务应用建议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30">
                <a:solidFill>
                  <a:srgbClr val="1C222D"/>
                </a:solidFill>
                <a:latin typeface="Microsoft YaHei"/>
              </a:defRPr>
            </a:pPr>
            <a:r>
              <a:t>Top 5%：优先人工复核 / 重点跟进</a:t>
            </a:r>
            <a:br/>
            <a:br/>
            <a:r>
              <a:t>5%–20%：常规审批优先队列</a:t>
            </a:r>
            <a:br/>
            <a:br/>
            <a:r>
              <a:t>20%–60%：结合人工规则与补充材料</a:t>
            </a:r>
            <a:br/>
            <a:br/>
            <a:r>
              <a:t>后 40%：谨慎处理 / 降低跟进优先级</a:t>
            </a:r>
            <a:br/>
            <a:br/>
            <a:r>
              <a:t>不建议直接用 0.5 阈值判定审批。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34440"/>
            <a:ext cx="50749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700" b="1">
                <a:solidFill>
                  <a:srgbClr val="142A4E"/>
                </a:solidFill>
                <a:latin typeface="Microsoft YaHei"/>
              </a:defRPr>
            </a:pPr>
            <a:r>
              <a:t>后续改进方向</a:t>
            </a:r>
          </a:p>
          <a:p>
            <a:pPr>
              <a:lnSpc>
                <a:spcPct val="108000"/>
              </a:lnSpc>
              <a:spcBef>
                <a:spcPts val="600"/>
              </a:spcBef>
              <a:defRPr sz="1330">
                <a:solidFill>
                  <a:srgbClr val="1C222D"/>
                </a:solidFill>
                <a:latin typeface="Microsoft YaHei"/>
              </a:defRPr>
            </a:pPr>
            <a:r>
              <a:t>1. 多时间窗口 Rolling / Expanding Validation</a:t>
            </a:r>
            <a:br/>
            <a:br/>
            <a:r>
              <a:t>2. 做 Train vs Test 分布漂移诊断</a:t>
            </a:r>
            <a:br/>
            <a:br/>
            <a:r>
              <a:t>3. 重新评估 Source / Bank / Employer 等字段稳定性</a:t>
            </a:r>
            <a:br/>
            <a:br/>
            <a:r>
              <a:t>4. Employer_Code 尝试 Frequency Encoding 或严格时间 OOF Target Encoding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5486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lnSpc>
                <a:spcPct val="105000"/>
              </a:lnSpc>
              <a:defRPr sz="3800" b="1">
                <a:solidFill>
                  <a:srgbClr val="142A4E"/>
                </a:solidFill>
                <a:latin typeface="Microsoft YaHei"/>
              </a:defRPr>
            </a:pPr>
            <a: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80360"/>
            <a:ext cx="12191695" cy="5029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lnSpc>
                <a:spcPct val="105000"/>
              </a:lnSpc>
              <a:defRPr sz="2800" b="1">
                <a:solidFill>
                  <a:srgbClr val="305CA8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647082"/>
                </a:solidFill>
                <a:latin typeface="Microsoft YaHei"/>
              </a:defRPr>
            </a:pPr>
            <a:r>
              <a:t>最终版本：XGBoost X08 + DROP_CITY（bank_loan_final_refit_v11）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1168</Words>
  <Application>Microsoft Office PowerPoint</Application>
  <PresentationFormat>宽屏</PresentationFormat>
  <Paragraphs>250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彦菲 谢</cp:lastModifiedBy>
  <cp:revision>2</cp:revision>
  <dcterms:created xsi:type="dcterms:W3CDTF">2013-01-27T09:14:16Z</dcterms:created>
  <dcterms:modified xsi:type="dcterms:W3CDTF">2026-08-13T03:24:33Z</dcterms:modified>
  <cp:category/>
</cp:coreProperties>
</file>